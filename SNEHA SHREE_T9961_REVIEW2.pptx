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87" r:id="rId5"/>
    <p:sldId id="2147470494" r:id="rId6"/>
    <p:sldId id="2147470497" r:id="rId7"/>
    <p:sldId id="2147470498" r:id="rId8"/>
    <p:sldId id="2147470500" r:id="rId9"/>
    <p:sldId id="214747049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70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36009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a:t>
            </a:r>
          </a:p>
          <a:p>
            <a:pPr lvl="0" algn="ctr">
              <a:defRPr/>
            </a:pPr>
            <a:r>
              <a:rPr lang="en-IN" sz="3600" dirty="0"/>
              <a:t>AI-Powered Health Insurance Claim Assistance</a:t>
            </a:r>
            <a:endParaRPr lang="en-US" sz="3600" b="1" dirty="0">
              <a:solidFill>
                <a:prstClr val="white"/>
              </a:solidFill>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lvl="0" algn="ctr">
              <a:defRPr/>
            </a:pPr>
            <a:r>
              <a:rPr lang="en-US" sz="2400" dirty="0">
                <a:solidFill>
                  <a:prstClr val="white"/>
                </a:solidFill>
                <a:latin typeface="Frutiger 45 bold"/>
                <a:cs typeface="Calibri" panose="020F0502020204030204" pitchFamily="34" charset="0"/>
              </a:rPr>
              <a:t>SNEHA SHREE S</a:t>
            </a: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19"/>
            <a:ext cx="10624338" cy="4142989"/>
          </a:xfrm>
        </p:spPr>
        <p:txBody>
          <a:bodyPr/>
          <a:lstStyle/>
          <a:p>
            <a:pPr lvl="0"/>
            <a:r>
              <a:rPr lang="en-IN" sz="2400" b="0" dirty="0"/>
              <a:t>A smart system designed to simplify and automate the health insurance claim process. </a:t>
            </a:r>
          </a:p>
          <a:p>
            <a:pPr lvl="0"/>
            <a:r>
              <a:rPr lang="en-IN" sz="2400" b="0" dirty="0"/>
              <a:t>Helps users submit claims and supporting medical documents. </a:t>
            </a:r>
          </a:p>
          <a:p>
            <a:pPr lvl="0"/>
            <a:r>
              <a:rPr lang="en-IN" sz="2400" b="0" dirty="0"/>
              <a:t>Performs document verification and policy eligibility analysis. </a:t>
            </a:r>
          </a:p>
          <a:p>
            <a:pPr lvl="0"/>
            <a:r>
              <a:rPr lang="en-IN" sz="2400" b="0" dirty="0"/>
              <a:t>Uses AI to support fraud detection and claim assessment. </a:t>
            </a:r>
          </a:p>
          <a:p>
            <a:pPr lvl="0"/>
            <a:r>
              <a:rPr lang="en-IN" sz="2400" b="0" dirty="0"/>
              <a:t>Provides suitable hospital and doctor recommendations based on treatment and location. </a:t>
            </a:r>
          </a:p>
          <a:p>
            <a:pPr lvl="0"/>
            <a:r>
              <a:rPr lang="en-IN" sz="2400" b="0" dirty="0"/>
              <a:t>Enables users to track claim status through a centralized interface. </a:t>
            </a:r>
          </a:p>
          <a:p>
            <a:pPr lvl="0"/>
            <a:r>
              <a:rPr lang="en-IN" sz="2400" b="0" dirty="0"/>
              <a:t>Reduces manual processing time and improves claim transparency.</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0624338" cy="4142989"/>
          </a:xfrm>
        </p:spPr>
        <p:txBody>
          <a:bodyPr/>
          <a:lstStyle/>
          <a:p>
            <a:pPr lvl="0"/>
            <a:r>
              <a:rPr lang="en-IN" sz="2400" dirty="0"/>
              <a:t>Automate major stages of the health insurance claim workflow. </a:t>
            </a:r>
          </a:p>
          <a:p>
            <a:pPr lvl="0"/>
            <a:r>
              <a:rPr lang="en-IN" sz="2400" dirty="0"/>
              <a:t>Verify submitted medical and supporting documents. </a:t>
            </a:r>
          </a:p>
          <a:p>
            <a:pPr lvl="0"/>
            <a:r>
              <a:rPr lang="en-IN" sz="2400" dirty="0"/>
              <a:t>Check policy eligibility and treatment coverage. </a:t>
            </a:r>
          </a:p>
          <a:p>
            <a:pPr lvl="0"/>
            <a:r>
              <a:rPr lang="en-IN" sz="2400" dirty="0"/>
              <a:t>Detect potentially fraudulent or suspicious claims. </a:t>
            </a:r>
          </a:p>
          <a:p>
            <a:pPr lvl="0"/>
            <a:r>
              <a:rPr lang="en-IN" sz="2400" dirty="0"/>
              <a:t>Assist in </a:t>
            </a:r>
            <a:r>
              <a:rPr lang="en-IN" sz="2400" dirty="0" err="1"/>
              <a:t>analyzing</a:t>
            </a:r>
            <a:r>
              <a:rPr lang="en-IN" sz="2400" dirty="0"/>
              <a:t> claim information using AI. </a:t>
            </a:r>
          </a:p>
          <a:p>
            <a:pPr lvl="0"/>
            <a:r>
              <a:rPr lang="en-IN" sz="2400" dirty="0"/>
              <a:t>Recommend suitable hospitals and doctors based on treatment and location. </a:t>
            </a:r>
          </a:p>
          <a:p>
            <a:pPr lvl="0"/>
            <a:r>
              <a:rPr lang="en-IN" sz="2400" dirty="0"/>
              <a:t>Provide claim ID and claim tracking functionality. </a:t>
            </a:r>
          </a:p>
          <a:p>
            <a:pPr lvl="0"/>
            <a:r>
              <a:rPr lang="en-IN" sz="2400" dirty="0"/>
              <a:t>Improve processing speed, accuracy and transparency.</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p:txBody>
          <a:bodyPr/>
          <a:lstStyle/>
          <a:p>
            <a:pPr lvl="1"/>
            <a:endParaRPr lang="en-US" dirty="0">
              <a:solidFill>
                <a:srgbClr val="1C3898"/>
              </a:solidFill>
            </a:endParaRP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IN" sz="3600" dirty="0"/>
              <a:t>Existing Systems &amp; Research Insights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algn="r"/>
            <a:r>
              <a:rPr lang="en-US" b="1" i="1" dirty="0">
                <a:solidFill>
                  <a:srgbClr val="FFFFFF"/>
                </a:solidFill>
              </a:rPr>
              <a:t>Project Title -  Calibri body 18</a:t>
            </a:r>
          </a:p>
          <a:p>
            <a:pPr algn="r"/>
            <a:endParaRPr lang="en-US" dirty="0"/>
          </a:p>
        </p:txBody>
      </p:sp>
      <p:graphicFrame>
        <p:nvGraphicFramePr>
          <p:cNvPr id="5" name="Table 4">
            <a:extLst>
              <a:ext uri="{FF2B5EF4-FFF2-40B4-BE49-F238E27FC236}">
                <a16:creationId xmlns:a16="http://schemas.microsoft.com/office/drawing/2014/main" id="{C1F5DEED-B576-1BA6-03FE-21AB3AA06B0F}"/>
              </a:ext>
            </a:extLst>
          </p:cNvPr>
          <p:cNvGraphicFramePr>
            <a:graphicFrameLocks noGrp="1"/>
          </p:cNvGraphicFramePr>
          <p:nvPr>
            <p:extLst>
              <p:ext uri="{D42A27DB-BD31-4B8C-83A1-F6EECF244321}">
                <p14:modId xmlns:p14="http://schemas.microsoft.com/office/powerpoint/2010/main" val="3528246726"/>
              </p:ext>
            </p:extLst>
          </p:nvPr>
        </p:nvGraphicFramePr>
        <p:xfrm>
          <a:off x="433137" y="1191755"/>
          <a:ext cx="11249274" cy="4395024"/>
        </p:xfrm>
        <a:graphic>
          <a:graphicData uri="http://schemas.openxmlformats.org/drawingml/2006/table">
            <a:tbl>
              <a:tblPr>
                <a:tableStyleId>{5C22544A-7EE6-4342-B048-85BDC9FD1C3A}</a:tableStyleId>
              </a:tblPr>
              <a:tblGrid>
                <a:gridCol w="3749758">
                  <a:extLst>
                    <a:ext uri="{9D8B030D-6E8A-4147-A177-3AD203B41FA5}">
                      <a16:colId xmlns:a16="http://schemas.microsoft.com/office/drawing/2014/main" val="1574958192"/>
                    </a:ext>
                  </a:extLst>
                </a:gridCol>
                <a:gridCol w="3749758">
                  <a:extLst>
                    <a:ext uri="{9D8B030D-6E8A-4147-A177-3AD203B41FA5}">
                      <a16:colId xmlns:a16="http://schemas.microsoft.com/office/drawing/2014/main" val="2633239691"/>
                    </a:ext>
                  </a:extLst>
                </a:gridCol>
                <a:gridCol w="3749758">
                  <a:extLst>
                    <a:ext uri="{9D8B030D-6E8A-4147-A177-3AD203B41FA5}">
                      <a16:colId xmlns:a16="http://schemas.microsoft.com/office/drawing/2014/main" val="988746089"/>
                    </a:ext>
                  </a:extLst>
                </a:gridCol>
              </a:tblGrid>
              <a:tr h="549378">
                <a:tc>
                  <a:txBody>
                    <a:bodyPr/>
                    <a:lstStyle/>
                    <a:p>
                      <a:pPr>
                        <a:buNone/>
                      </a:pPr>
                      <a:r>
                        <a:rPr lang="en-IN"/>
                        <a:t>Area</a:t>
                      </a:r>
                    </a:p>
                  </a:txBody>
                  <a:tcPr anchor="ctr"/>
                </a:tc>
                <a:tc>
                  <a:txBody>
                    <a:bodyPr/>
                    <a:lstStyle/>
                    <a:p>
                      <a:pPr>
                        <a:buNone/>
                      </a:pPr>
                      <a:r>
                        <a:rPr lang="en-IN"/>
                        <a:t>Existing Approach</a:t>
                      </a:r>
                    </a:p>
                  </a:txBody>
                  <a:tcPr anchor="ctr"/>
                </a:tc>
                <a:tc>
                  <a:txBody>
                    <a:bodyPr/>
                    <a:lstStyle/>
                    <a:p>
                      <a:pPr>
                        <a:buNone/>
                      </a:pPr>
                      <a:r>
                        <a:rPr lang="en-IN"/>
                        <a:t>Limitation</a:t>
                      </a:r>
                    </a:p>
                  </a:txBody>
                  <a:tcPr anchor="ctr"/>
                </a:tc>
                <a:extLst>
                  <a:ext uri="{0D108BD9-81ED-4DB2-BD59-A6C34878D82A}">
                    <a16:rowId xmlns:a16="http://schemas.microsoft.com/office/drawing/2014/main" val="1313288367"/>
                  </a:ext>
                </a:extLst>
              </a:tr>
              <a:tr h="549378">
                <a:tc>
                  <a:txBody>
                    <a:bodyPr/>
                    <a:lstStyle/>
                    <a:p>
                      <a:pPr>
                        <a:buNone/>
                      </a:pPr>
                      <a:r>
                        <a:rPr lang="en-IN"/>
                        <a:t>Claim Submission</a:t>
                      </a:r>
                    </a:p>
                  </a:txBody>
                  <a:tcPr anchor="ctr"/>
                </a:tc>
                <a:tc>
                  <a:txBody>
                    <a:bodyPr/>
                    <a:lstStyle/>
                    <a:p>
                      <a:pPr>
                        <a:buNone/>
                      </a:pPr>
                      <a:r>
                        <a:rPr lang="en-IN"/>
                        <a:t>Online forms</a:t>
                      </a:r>
                    </a:p>
                  </a:txBody>
                  <a:tcPr anchor="ctr"/>
                </a:tc>
                <a:tc>
                  <a:txBody>
                    <a:bodyPr/>
                    <a:lstStyle/>
                    <a:p>
                      <a:pPr>
                        <a:buNone/>
                      </a:pPr>
                      <a:r>
                        <a:rPr lang="en-IN"/>
                        <a:t>Manual information entry</a:t>
                      </a:r>
                    </a:p>
                  </a:txBody>
                  <a:tcPr anchor="ctr"/>
                </a:tc>
                <a:extLst>
                  <a:ext uri="{0D108BD9-81ED-4DB2-BD59-A6C34878D82A}">
                    <a16:rowId xmlns:a16="http://schemas.microsoft.com/office/drawing/2014/main" val="1626136298"/>
                  </a:ext>
                </a:extLst>
              </a:tr>
              <a:tr h="549378">
                <a:tc>
                  <a:txBody>
                    <a:bodyPr/>
                    <a:lstStyle/>
                    <a:p>
                      <a:pPr>
                        <a:buNone/>
                      </a:pPr>
                      <a:r>
                        <a:rPr lang="en-IN"/>
                        <a:t>Document Verification</a:t>
                      </a:r>
                    </a:p>
                  </a:txBody>
                  <a:tcPr anchor="ctr"/>
                </a:tc>
                <a:tc>
                  <a:txBody>
                    <a:bodyPr/>
                    <a:lstStyle/>
                    <a:p>
                      <a:pPr>
                        <a:buNone/>
                      </a:pPr>
                      <a:r>
                        <a:rPr lang="en-IN"/>
                        <a:t>Manual checking</a:t>
                      </a:r>
                    </a:p>
                  </a:txBody>
                  <a:tcPr anchor="ctr"/>
                </a:tc>
                <a:tc>
                  <a:txBody>
                    <a:bodyPr/>
                    <a:lstStyle/>
                    <a:p>
                      <a:pPr>
                        <a:buNone/>
                      </a:pPr>
                      <a:r>
                        <a:rPr lang="en-IN"/>
                        <a:t>Time-consuming</a:t>
                      </a:r>
                    </a:p>
                  </a:txBody>
                  <a:tcPr anchor="ctr"/>
                </a:tc>
                <a:extLst>
                  <a:ext uri="{0D108BD9-81ED-4DB2-BD59-A6C34878D82A}">
                    <a16:rowId xmlns:a16="http://schemas.microsoft.com/office/drawing/2014/main" val="807560835"/>
                  </a:ext>
                </a:extLst>
              </a:tr>
              <a:tr h="549378">
                <a:tc>
                  <a:txBody>
                    <a:bodyPr/>
                    <a:lstStyle/>
                    <a:p>
                      <a:pPr>
                        <a:buNone/>
                      </a:pPr>
                      <a:r>
                        <a:rPr lang="en-IN"/>
                        <a:t>Eligibility</a:t>
                      </a:r>
                    </a:p>
                  </a:txBody>
                  <a:tcPr anchor="ctr"/>
                </a:tc>
                <a:tc>
                  <a:txBody>
                    <a:bodyPr/>
                    <a:lstStyle/>
                    <a:p>
                      <a:pPr>
                        <a:buNone/>
                      </a:pPr>
                      <a:r>
                        <a:rPr lang="en-IN"/>
                        <a:t>Policy-based/manual verification</a:t>
                      </a:r>
                    </a:p>
                  </a:txBody>
                  <a:tcPr anchor="ctr"/>
                </a:tc>
                <a:tc>
                  <a:txBody>
                    <a:bodyPr/>
                    <a:lstStyle/>
                    <a:p>
                      <a:pPr>
                        <a:buNone/>
                      </a:pPr>
                      <a:r>
                        <a:rPr lang="en-IN"/>
                        <a:t>Limited automation</a:t>
                      </a:r>
                    </a:p>
                  </a:txBody>
                  <a:tcPr anchor="ctr"/>
                </a:tc>
                <a:extLst>
                  <a:ext uri="{0D108BD9-81ED-4DB2-BD59-A6C34878D82A}">
                    <a16:rowId xmlns:a16="http://schemas.microsoft.com/office/drawing/2014/main" val="1891681992"/>
                  </a:ext>
                </a:extLst>
              </a:tr>
              <a:tr h="549378">
                <a:tc>
                  <a:txBody>
                    <a:bodyPr/>
                    <a:lstStyle/>
                    <a:p>
                      <a:pPr>
                        <a:buNone/>
                      </a:pPr>
                      <a:r>
                        <a:rPr lang="en-IN"/>
                        <a:t>Fraud Detection</a:t>
                      </a:r>
                    </a:p>
                  </a:txBody>
                  <a:tcPr anchor="ctr"/>
                </a:tc>
                <a:tc>
                  <a:txBody>
                    <a:bodyPr/>
                    <a:lstStyle/>
                    <a:p>
                      <a:pPr>
                        <a:buNone/>
                      </a:pPr>
                      <a:r>
                        <a:rPr lang="en-IN"/>
                        <a:t>Rule/model-based systems</a:t>
                      </a:r>
                    </a:p>
                  </a:txBody>
                  <a:tcPr anchor="ctr"/>
                </a:tc>
                <a:tc>
                  <a:txBody>
                    <a:bodyPr/>
                    <a:lstStyle/>
                    <a:p>
                      <a:pPr>
                        <a:buNone/>
                      </a:pPr>
                      <a:r>
                        <a:rPr lang="en-IN"/>
                        <a:t>May require separate processing</a:t>
                      </a:r>
                    </a:p>
                  </a:txBody>
                  <a:tcPr anchor="ctr"/>
                </a:tc>
                <a:extLst>
                  <a:ext uri="{0D108BD9-81ED-4DB2-BD59-A6C34878D82A}">
                    <a16:rowId xmlns:a16="http://schemas.microsoft.com/office/drawing/2014/main" val="1093216037"/>
                  </a:ext>
                </a:extLst>
              </a:tr>
              <a:tr h="549378">
                <a:tc>
                  <a:txBody>
                    <a:bodyPr/>
                    <a:lstStyle/>
                    <a:p>
                      <a:pPr>
                        <a:buNone/>
                      </a:pPr>
                      <a:r>
                        <a:rPr lang="en-IN"/>
                        <a:t>Hospital Search</a:t>
                      </a:r>
                    </a:p>
                  </a:txBody>
                  <a:tcPr anchor="ctr"/>
                </a:tc>
                <a:tc>
                  <a:txBody>
                    <a:bodyPr/>
                    <a:lstStyle/>
                    <a:p>
                      <a:pPr>
                        <a:buNone/>
                      </a:pPr>
                      <a:r>
                        <a:rPr lang="en-IN"/>
                        <a:t>General hospital directories</a:t>
                      </a:r>
                    </a:p>
                  </a:txBody>
                  <a:tcPr anchor="ctr"/>
                </a:tc>
                <a:tc>
                  <a:txBody>
                    <a:bodyPr/>
                    <a:lstStyle/>
                    <a:p>
                      <a:pPr>
                        <a:buNone/>
                      </a:pPr>
                      <a:r>
                        <a:rPr lang="en-IN"/>
                        <a:t>Not claim-oriented</a:t>
                      </a:r>
                    </a:p>
                  </a:txBody>
                  <a:tcPr anchor="ctr"/>
                </a:tc>
                <a:extLst>
                  <a:ext uri="{0D108BD9-81ED-4DB2-BD59-A6C34878D82A}">
                    <a16:rowId xmlns:a16="http://schemas.microsoft.com/office/drawing/2014/main" val="2894558786"/>
                  </a:ext>
                </a:extLst>
              </a:tr>
              <a:tr h="549378">
                <a:tc>
                  <a:txBody>
                    <a:bodyPr/>
                    <a:lstStyle/>
                    <a:p>
                      <a:pPr>
                        <a:buNone/>
                      </a:pPr>
                      <a:r>
                        <a:rPr lang="en-IN"/>
                        <a:t>Claim Tracking</a:t>
                      </a:r>
                    </a:p>
                  </a:txBody>
                  <a:tcPr anchor="ctr"/>
                </a:tc>
                <a:tc>
                  <a:txBody>
                    <a:bodyPr/>
                    <a:lstStyle/>
                    <a:p>
                      <a:pPr>
                        <a:buNone/>
                      </a:pPr>
                      <a:r>
                        <a:rPr lang="en-IN"/>
                        <a:t>Insurer portals</a:t>
                      </a:r>
                    </a:p>
                  </a:txBody>
                  <a:tcPr anchor="ctr"/>
                </a:tc>
                <a:tc>
                  <a:txBody>
                    <a:bodyPr/>
                    <a:lstStyle/>
                    <a:p>
                      <a:pPr>
                        <a:buNone/>
                      </a:pPr>
                      <a:r>
                        <a:rPr lang="en-IN"/>
                        <a:t>Information may be fragmented</a:t>
                      </a:r>
                    </a:p>
                  </a:txBody>
                  <a:tcPr anchor="ctr"/>
                </a:tc>
                <a:extLst>
                  <a:ext uri="{0D108BD9-81ED-4DB2-BD59-A6C34878D82A}">
                    <a16:rowId xmlns:a16="http://schemas.microsoft.com/office/drawing/2014/main" val="1484953574"/>
                  </a:ext>
                </a:extLst>
              </a:tr>
              <a:tr h="549378">
                <a:tc>
                  <a:txBody>
                    <a:bodyPr/>
                    <a:lstStyle/>
                    <a:p>
                      <a:pPr>
                        <a:buNone/>
                      </a:pPr>
                      <a:r>
                        <a:rPr lang="en-IN"/>
                        <a:t>AI Assistance</a:t>
                      </a:r>
                    </a:p>
                  </a:txBody>
                  <a:tcPr anchor="ctr"/>
                </a:tc>
                <a:tc>
                  <a:txBody>
                    <a:bodyPr/>
                    <a:lstStyle/>
                    <a:p>
                      <a:pPr>
                        <a:buNone/>
                      </a:pPr>
                      <a:r>
                        <a:rPr lang="en-IN"/>
                        <a:t>Basic chatbots</a:t>
                      </a:r>
                    </a:p>
                  </a:txBody>
                  <a:tcPr anchor="ctr"/>
                </a:tc>
                <a:tc>
                  <a:txBody>
                    <a:bodyPr/>
                    <a:lstStyle/>
                    <a:p>
                      <a:pPr>
                        <a:buNone/>
                      </a:pPr>
                      <a:r>
                        <a:rPr lang="en-IN" dirty="0"/>
                        <a:t>Limited claim context</a:t>
                      </a:r>
                    </a:p>
                  </a:txBody>
                  <a:tcPr anchor="ctr"/>
                </a:tc>
                <a:extLst>
                  <a:ext uri="{0D108BD9-81ED-4DB2-BD59-A6C34878D82A}">
                    <a16:rowId xmlns:a16="http://schemas.microsoft.com/office/drawing/2014/main" val="3837053583"/>
                  </a:ext>
                </a:extLst>
              </a:tr>
            </a:tbl>
          </a:graphicData>
        </a:graphic>
      </p:graphicFrame>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6" y="1271219"/>
            <a:ext cx="10624338" cy="4142989"/>
          </a:xfrm>
        </p:spPr>
        <p:txBody>
          <a:bodyPr/>
          <a:lstStyle/>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defRPr/>
            </a:pPr>
            <a:r>
              <a:rPr lang="en-IN" sz="3600" dirty="0"/>
              <a:t>Literature Summary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graphicFrame>
        <p:nvGraphicFramePr>
          <p:cNvPr id="6" name="Table 5">
            <a:extLst>
              <a:ext uri="{FF2B5EF4-FFF2-40B4-BE49-F238E27FC236}">
                <a16:creationId xmlns:a16="http://schemas.microsoft.com/office/drawing/2014/main" id="{FCA27E93-BF31-5EBA-8590-B0D8DC4BA8D4}"/>
              </a:ext>
            </a:extLst>
          </p:cNvPr>
          <p:cNvGraphicFramePr>
            <a:graphicFrameLocks noGrp="1"/>
          </p:cNvGraphicFramePr>
          <p:nvPr>
            <p:extLst>
              <p:ext uri="{D42A27DB-BD31-4B8C-83A1-F6EECF244321}">
                <p14:modId xmlns:p14="http://schemas.microsoft.com/office/powerpoint/2010/main" val="2574874116"/>
              </p:ext>
            </p:extLst>
          </p:nvPr>
        </p:nvGraphicFramePr>
        <p:xfrm>
          <a:off x="385011" y="1314100"/>
          <a:ext cx="11297402" cy="3555398"/>
        </p:xfrm>
        <a:graphic>
          <a:graphicData uri="http://schemas.openxmlformats.org/drawingml/2006/table">
            <a:tbl>
              <a:tblPr>
                <a:tableStyleId>{5C22544A-7EE6-4342-B048-85BDC9FD1C3A}</a:tableStyleId>
              </a:tblPr>
              <a:tblGrid>
                <a:gridCol w="5529386">
                  <a:extLst>
                    <a:ext uri="{9D8B030D-6E8A-4147-A177-3AD203B41FA5}">
                      <a16:colId xmlns:a16="http://schemas.microsoft.com/office/drawing/2014/main" val="753417260"/>
                    </a:ext>
                  </a:extLst>
                </a:gridCol>
                <a:gridCol w="5768016">
                  <a:extLst>
                    <a:ext uri="{9D8B030D-6E8A-4147-A177-3AD203B41FA5}">
                      <a16:colId xmlns:a16="http://schemas.microsoft.com/office/drawing/2014/main" val="3508629136"/>
                    </a:ext>
                  </a:extLst>
                </a:gridCol>
              </a:tblGrid>
              <a:tr h="507914">
                <a:tc>
                  <a:txBody>
                    <a:bodyPr/>
                    <a:lstStyle/>
                    <a:p>
                      <a:pPr>
                        <a:buNone/>
                      </a:pPr>
                      <a:r>
                        <a:rPr lang="en-IN"/>
                        <a:t>Research Area</a:t>
                      </a:r>
                    </a:p>
                  </a:txBody>
                  <a:tcPr anchor="ctr"/>
                </a:tc>
                <a:tc>
                  <a:txBody>
                    <a:bodyPr/>
                    <a:lstStyle/>
                    <a:p>
                      <a:pPr>
                        <a:buNone/>
                      </a:pPr>
                      <a:r>
                        <a:rPr lang="en-IN"/>
                        <a:t>Key Insight</a:t>
                      </a:r>
                    </a:p>
                  </a:txBody>
                  <a:tcPr anchor="ctr"/>
                </a:tc>
                <a:extLst>
                  <a:ext uri="{0D108BD9-81ED-4DB2-BD59-A6C34878D82A}">
                    <a16:rowId xmlns:a16="http://schemas.microsoft.com/office/drawing/2014/main" val="638558363"/>
                  </a:ext>
                </a:extLst>
              </a:tr>
              <a:tr h="507914">
                <a:tc>
                  <a:txBody>
                    <a:bodyPr/>
                    <a:lstStyle/>
                    <a:p>
                      <a:pPr>
                        <a:buNone/>
                      </a:pPr>
                      <a:r>
                        <a:rPr lang="en-IN"/>
                        <a:t>Health Insurance Automation</a:t>
                      </a:r>
                    </a:p>
                  </a:txBody>
                  <a:tcPr anchor="ctr"/>
                </a:tc>
                <a:tc>
                  <a:txBody>
                    <a:bodyPr/>
                    <a:lstStyle/>
                    <a:p>
                      <a:pPr>
                        <a:buNone/>
                      </a:pPr>
                      <a:r>
                        <a:rPr lang="en-IN"/>
                        <a:t>Reduces manual claim-processing workload</a:t>
                      </a:r>
                    </a:p>
                  </a:txBody>
                  <a:tcPr anchor="ctr"/>
                </a:tc>
                <a:extLst>
                  <a:ext uri="{0D108BD9-81ED-4DB2-BD59-A6C34878D82A}">
                    <a16:rowId xmlns:a16="http://schemas.microsoft.com/office/drawing/2014/main" val="791681018"/>
                  </a:ext>
                </a:extLst>
              </a:tr>
              <a:tr h="507914">
                <a:tc>
                  <a:txBody>
                    <a:bodyPr/>
                    <a:lstStyle/>
                    <a:p>
                      <a:pPr>
                        <a:buNone/>
                      </a:pPr>
                      <a:r>
                        <a:rPr lang="en-IN"/>
                        <a:t>Document Processing</a:t>
                      </a:r>
                    </a:p>
                  </a:txBody>
                  <a:tcPr anchor="ctr"/>
                </a:tc>
                <a:tc>
                  <a:txBody>
                    <a:bodyPr/>
                    <a:lstStyle/>
                    <a:p>
                      <a:pPr>
                        <a:buNone/>
                      </a:pPr>
                      <a:r>
                        <a:rPr lang="en-IN"/>
                        <a:t>Helps extract and validate claim information</a:t>
                      </a:r>
                    </a:p>
                  </a:txBody>
                  <a:tcPr anchor="ctr"/>
                </a:tc>
                <a:extLst>
                  <a:ext uri="{0D108BD9-81ED-4DB2-BD59-A6C34878D82A}">
                    <a16:rowId xmlns:a16="http://schemas.microsoft.com/office/drawing/2014/main" val="3646159606"/>
                  </a:ext>
                </a:extLst>
              </a:tr>
              <a:tr h="507914">
                <a:tc>
                  <a:txBody>
                    <a:bodyPr/>
                    <a:lstStyle/>
                    <a:p>
                      <a:pPr>
                        <a:buNone/>
                      </a:pPr>
                      <a:r>
                        <a:rPr lang="en-IN"/>
                        <a:t>Machine Learning</a:t>
                      </a:r>
                    </a:p>
                  </a:txBody>
                  <a:tcPr anchor="ctr"/>
                </a:tc>
                <a:tc>
                  <a:txBody>
                    <a:bodyPr/>
                    <a:lstStyle/>
                    <a:p>
                      <a:pPr>
                        <a:buNone/>
                      </a:pPr>
                      <a:r>
                        <a:rPr lang="en-IN"/>
                        <a:t>Can support fraud-risk identification</a:t>
                      </a:r>
                    </a:p>
                  </a:txBody>
                  <a:tcPr anchor="ctr"/>
                </a:tc>
                <a:extLst>
                  <a:ext uri="{0D108BD9-81ED-4DB2-BD59-A6C34878D82A}">
                    <a16:rowId xmlns:a16="http://schemas.microsoft.com/office/drawing/2014/main" val="3953442416"/>
                  </a:ext>
                </a:extLst>
              </a:tr>
              <a:tr h="507914">
                <a:tc>
                  <a:txBody>
                    <a:bodyPr/>
                    <a:lstStyle/>
                    <a:p>
                      <a:pPr>
                        <a:buNone/>
                      </a:pPr>
                      <a:r>
                        <a:rPr lang="en-IN"/>
                        <a:t>AI Decision Support</a:t>
                      </a:r>
                    </a:p>
                  </a:txBody>
                  <a:tcPr anchor="ctr"/>
                </a:tc>
                <a:tc>
                  <a:txBody>
                    <a:bodyPr/>
                    <a:lstStyle/>
                    <a:p>
                      <a:pPr>
                        <a:buNone/>
                      </a:pPr>
                      <a:r>
                        <a:rPr lang="en-IN"/>
                        <a:t>Helps analyze complex claim information</a:t>
                      </a:r>
                    </a:p>
                  </a:txBody>
                  <a:tcPr anchor="ctr"/>
                </a:tc>
                <a:extLst>
                  <a:ext uri="{0D108BD9-81ED-4DB2-BD59-A6C34878D82A}">
                    <a16:rowId xmlns:a16="http://schemas.microsoft.com/office/drawing/2014/main" val="2781072581"/>
                  </a:ext>
                </a:extLst>
              </a:tr>
              <a:tr h="507914">
                <a:tc>
                  <a:txBody>
                    <a:bodyPr/>
                    <a:lstStyle/>
                    <a:p>
                      <a:pPr>
                        <a:buNone/>
                      </a:pPr>
                      <a:r>
                        <a:rPr lang="en-IN"/>
                        <a:t>Healthcare Recommendation</a:t>
                      </a:r>
                    </a:p>
                  </a:txBody>
                  <a:tcPr anchor="ctr"/>
                </a:tc>
                <a:tc>
                  <a:txBody>
                    <a:bodyPr/>
                    <a:lstStyle/>
                    <a:p>
                      <a:pPr>
                        <a:buNone/>
                      </a:pPr>
                      <a:r>
                        <a:rPr lang="en-IN"/>
                        <a:t>Can assist patients in finding suitable providers</a:t>
                      </a:r>
                    </a:p>
                  </a:txBody>
                  <a:tcPr anchor="ctr"/>
                </a:tc>
                <a:extLst>
                  <a:ext uri="{0D108BD9-81ED-4DB2-BD59-A6C34878D82A}">
                    <a16:rowId xmlns:a16="http://schemas.microsoft.com/office/drawing/2014/main" val="1749111306"/>
                  </a:ext>
                </a:extLst>
              </a:tr>
              <a:tr h="507914">
                <a:tc>
                  <a:txBody>
                    <a:bodyPr/>
                    <a:lstStyle/>
                    <a:p>
                      <a:pPr>
                        <a:buNone/>
                      </a:pPr>
                      <a:r>
                        <a:rPr lang="en-IN"/>
                        <a:t>Digital Claim Tracking</a:t>
                      </a:r>
                    </a:p>
                  </a:txBody>
                  <a:tcPr anchor="ctr"/>
                </a:tc>
                <a:tc>
                  <a:txBody>
                    <a:bodyPr/>
                    <a:lstStyle/>
                    <a:p>
                      <a:pPr>
                        <a:buNone/>
                      </a:pPr>
                      <a:r>
                        <a:rPr lang="en-IN" dirty="0"/>
                        <a:t>Improves transparency and accessibility</a:t>
                      </a:r>
                    </a:p>
                  </a:txBody>
                  <a:tcPr anchor="ctr"/>
                </a:tc>
                <a:extLst>
                  <a:ext uri="{0D108BD9-81ED-4DB2-BD59-A6C34878D82A}">
                    <a16:rowId xmlns:a16="http://schemas.microsoft.com/office/drawing/2014/main" val="2141614956"/>
                  </a:ext>
                </a:extLst>
              </a:tr>
            </a:tbl>
          </a:graphicData>
        </a:graphic>
      </p:graphicFrame>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6" y="1271219"/>
            <a:ext cx="10624338" cy="4142989"/>
          </a:xfrm>
        </p:spPr>
        <p:txBody>
          <a:bodyPr/>
          <a:lstStyle/>
          <a:p>
            <a:pPr lvl="0"/>
            <a:r>
              <a:rPr lang="en-IN" sz="2400" dirty="0"/>
              <a:t>Collected health insurance claim, patient, policy, hospital and doctor datasets. </a:t>
            </a:r>
          </a:p>
          <a:p>
            <a:pPr lvl="0"/>
            <a:r>
              <a:rPr lang="en-IN" sz="2400" dirty="0"/>
              <a:t>Removed duplicate and irrelevant records. </a:t>
            </a:r>
          </a:p>
          <a:p>
            <a:pPr lvl="0"/>
            <a:r>
              <a:rPr lang="en-IN" sz="2400" dirty="0"/>
              <a:t>Handled missing and inconsistent values. </a:t>
            </a:r>
          </a:p>
          <a:p>
            <a:pPr lvl="0"/>
            <a:r>
              <a:rPr lang="en-IN" sz="2400" dirty="0"/>
              <a:t>Standardized data formats and column names. </a:t>
            </a:r>
          </a:p>
          <a:p>
            <a:pPr lvl="0"/>
            <a:r>
              <a:rPr lang="en-IN" sz="2400" dirty="0"/>
              <a:t>Cleaned categorical fields such as treatment, insurer, claim status and hospital location. </a:t>
            </a:r>
          </a:p>
          <a:p>
            <a:pPr lvl="0"/>
            <a:r>
              <a:rPr lang="en-IN" sz="2400" dirty="0"/>
              <a:t>Prepared the dataset for eligibility analysis and fraud detection. </a:t>
            </a:r>
          </a:p>
          <a:p>
            <a:pPr lvl="0"/>
            <a:r>
              <a:rPr lang="en-IN" sz="2400" dirty="0"/>
              <a:t>Structured healthcare provider data for hospital and doctor recommendations.</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Data preprocessing &amp; EDA</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433592-8155-CD6F-B5E3-78AB52F31DE6}"/>
              </a:ext>
            </a:extLst>
          </p:cNvPr>
          <p:cNvSpPr>
            <a:spLocks noGrp="1"/>
          </p:cNvSpPr>
          <p:nvPr>
            <p:ph type="body" sz="quarter" idx="13"/>
          </p:nvPr>
        </p:nvSpPr>
        <p:spPr>
          <a:xfrm>
            <a:off x="255996" y="1271219"/>
            <a:ext cx="10624338" cy="4142989"/>
          </a:xfrm>
        </p:spPr>
        <p:txBody>
          <a:bodyPr/>
          <a:lstStyle/>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graphicFrame>
        <p:nvGraphicFramePr>
          <p:cNvPr id="6" name="Table 5">
            <a:extLst>
              <a:ext uri="{FF2B5EF4-FFF2-40B4-BE49-F238E27FC236}">
                <a16:creationId xmlns:a16="http://schemas.microsoft.com/office/drawing/2014/main" id="{C1C0D7FF-5ED6-46A0-8209-596D5E8FD5E2}"/>
              </a:ext>
            </a:extLst>
          </p:cNvPr>
          <p:cNvGraphicFramePr>
            <a:graphicFrameLocks noGrp="1"/>
          </p:cNvGraphicFramePr>
          <p:nvPr>
            <p:extLst>
              <p:ext uri="{D42A27DB-BD31-4B8C-83A1-F6EECF244321}">
                <p14:modId xmlns:p14="http://schemas.microsoft.com/office/powerpoint/2010/main" val="3400812158"/>
              </p:ext>
            </p:extLst>
          </p:nvPr>
        </p:nvGraphicFramePr>
        <p:xfrm>
          <a:off x="255997" y="1257618"/>
          <a:ext cx="11426415" cy="4389120"/>
        </p:xfrm>
        <a:graphic>
          <a:graphicData uri="http://schemas.openxmlformats.org/drawingml/2006/table">
            <a:tbl>
              <a:tblPr>
                <a:tableStyleId>{5C22544A-7EE6-4342-B048-85BDC9FD1C3A}</a:tableStyleId>
              </a:tblPr>
              <a:tblGrid>
                <a:gridCol w="3808805">
                  <a:extLst>
                    <a:ext uri="{9D8B030D-6E8A-4147-A177-3AD203B41FA5}">
                      <a16:colId xmlns:a16="http://schemas.microsoft.com/office/drawing/2014/main" val="3615758615"/>
                    </a:ext>
                  </a:extLst>
                </a:gridCol>
                <a:gridCol w="3808805">
                  <a:extLst>
                    <a:ext uri="{9D8B030D-6E8A-4147-A177-3AD203B41FA5}">
                      <a16:colId xmlns:a16="http://schemas.microsoft.com/office/drawing/2014/main" val="3967834109"/>
                    </a:ext>
                  </a:extLst>
                </a:gridCol>
                <a:gridCol w="3808805">
                  <a:extLst>
                    <a:ext uri="{9D8B030D-6E8A-4147-A177-3AD203B41FA5}">
                      <a16:colId xmlns:a16="http://schemas.microsoft.com/office/drawing/2014/main" val="714611684"/>
                    </a:ext>
                  </a:extLst>
                </a:gridCol>
              </a:tblGrid>
              <a:tr h="0">
                <a:tc>
                  <a:txBody>
                    <a:bodyPr/>
                    <a:lstStyle/>
                    <a:p>
                      <a:pPr>
                        <a:buNone/>
                      </a:pPr>
                      <a:r>
                        <a:rPr lang="en-IN"/>
                        <a:t>Approach</a:t>
                      </a:r>
                    </a:p>
                  </a:txBody>
                  <a:tcPr anchor="ctr"/>
                </a:tc>
                <a:tc>
                  <a:txBody>
                    <a:bodyPr/>
                    <a:lstStyle/>
                    <a:p>
                      <a:pPr>
                        <a:buNone/>
                      </a:pPr>
                      <a:r>
                        <a:rPr lang="en-IN"/>
                        <a:t>Algorithms / Techniques</a:t>
                      </a:r>
                    </a:p>
                  </a:txBody>
                  <a:tcPr anchor="ctr"/>
                </a:tc>
                <a:tc>
                  <a:txBody>
                    <a:bodyPr/>
                    <a:lstStyle/>
                    <a:p>
                      <a:pPr>
                        <a:buNone/>
                      </a:pPr>
                      <a:r>
                        <a:rPr lang="en-IN"/>
                        <a:t>Tools / Technologies</a:t>
                      </a:r>
                    </a:p>
                  </a:txBody>
                  <a:tcPr anchor="ctr"/>
                </a:tc>
                <a:extLst>
                  <a:ext uri="{0D108BD9-81ED-4DB2-BD59-A6C34878D82A}">
                    <a16:rowId xmlns:a16="http://schemas.microsoft.com/office/drawing/2014/main" val="1957178302"/>
                  </a:ext>
                </a:extLst>
              </a:tr>
              <a:tr h="0">
                <a:tc>
                  <a:txBody>
                    <a:bodyPr/>
                    <a:lstStyle/>
                    <a:p>
                      <a:pPr>
                        <a:buNone/>
                      </a:pPr>
                      <a:r>
                        <a:rPr lang="en-IN"/>
                        <a:t>Data Collection</a:t>
                      </a:r>
                    </a:p>
                  </a:txBody>
                  <a:tcPr anchor="ctr"/>
                </a:tc>
                <a:tc>
                  <a:txBody>
                    <a:bodyPr/>
                    <a:lstStyle/>
                    <a:p>
                      <a:pPr>
                        <a:buNone/>
                      </a:pPr>
                      <a:r>
                        <a:rPr lang="en-IN"/>
                        <a:t>Data Integration</a:t>
                      </a:r>
                    </a:p>
                  </a:txBody>
                  <a:tcPr anchor="ctr"/>
                </a:tc>
                <a:tc>
                  <a:txBody>
                    <a:bodyPr/>
                    <a:lstStyle/>
                    <a:p>
                      <a:pPr>
                        <a:buNone/>
                      </a:pPr>
                      <a:r>
                        <a:rPr lang="en-IN"/>
                        <a:t>Python</a:t>
                      </a:r>
                    </a:p>
                  </a:txBody>
                  <a:tcPr anchor="ctr"/>
                </a:tc>
                <a:extLst>
                  <a:ext uri="{0D108BD9-81ED-4DB2-BD59-A6C34878D82A}">
                    <a16:rowId xmlns:a16="http://schemas.microsoft.com/office/drawing/2014/main" val="1197013129"/>
                  </a:ext>
                </a:extLst>
              </a:tr>
              <a:tr h="0">
                <a:tc>
                  <a:txBody>
                    <a:bodyPr/>
                    <a:lstStyle/>
                    <a:p>
                      <a:pPr>
                        <a:buNone/>
                      </a:pPr>
                      <a:r>
                        <a:rPr lang="en-IN"/>
                        <a:t>Data Preprocessing</a:t>
                      </a:r>
                    </a:p>
                  </a:txBody>
                  <a:tcPr anchor="ctr"/>
                </a:tc>
                <a:tc>
                  <a:txBody>
                    <a:bodyPr/>
                    <a:lstStyle/>
                    <a:p>
                      <a:pPr>
                        <a:buNone/>
                      </a:pPr>
                      <a:r>
                        <a:rPr lang="en-IN"/>
                        <a:t>Cleaning &amp; Normalization</a:t>
                      </a:r>
                    </a:p>
                  </a:txBody>
                  <a:tcPr anchor="ctr"/>
                </a:tc>
                <a:tc>
                  <a:txBody>
                    <a:bodyPr/>
                    <a:lstStyle/>
                    <a:p>
                      <a:pPr>
                        <a:buNone/>
                      </a:pPr>
                      <a:r>
                        <a:rPr lang="en-IN"/>
                        <a:t>Pandas, NumPy</a:t>
                      </a:r>
                    </a:p>
                  </a:txBody>
                  <a:tcPr anchor="ctr"/>
                </a:tc>
                <a:extLst>
                  <a:ext uri="{0D108BD9-81ED-4DB2-BD59-A6C34878D82A}">
                    <a16:rowId xmlns:a16="http://schemas.microsoft.com/office/drawing/2014/main" val="1263227290"/>
                  </a:ext>
                </a:extLst>
              </a:tr>
              <a:tr h="0">
                <a:tc>
                  <a:txBody>
                    <a:bodyPr/>
                    <a:lstStyle/>
                    <a:p>
                      <a:pPr>
                        <a:buNone/>
                      </a:pPr>
                      <a:r>
                        <a:rPr lang="en-IN"/>
                        <a:t>EDA</a:t>
                      </a:r>
                    </a:p>
                  </a:txBody>
                  <a:tcPr anchor="ctr"/>
                </a:tc>
                <a:tc>
                  <a:txBody>
                    <a:bodyPr/>
                    <a:lstStyle/>
                    <a:p>
                      <a:pPr>
                        <a:buNone/>
                      </a:pPr>
                      <a:r>
                        <a:rPr lang="en-IN"/>
                        <a:t>Statistical Analysis</a:t>
                      </a:r>
                    </a:p>
                  </a:txBody>
                  <a:tcPr anchor="ctr"/>
                </a:tc>
                <a:tc>
                  <a:txBody>
                    <a:bodyPr/>
                    <a:lstStyle/>
                    <a:p>
                      <a:pPr>
                        <a:buNone/>
                      </a:pPr>
                      <a:r>
                        <a:rPr lang="en-IN"/>
                        <a:t>Matplotlib</a:t>
                      </a:r>
                    </a:p>
                  </a:txBody>
                  <a:tcPr anchor="ctr"/>
                </a:tc>
                <a:extLst>
                  <a:ext uri="{0D108BD9-81ED-4DB2-BD59-A6C34878D82A}">
                    <a16:rowId xmlns:a16="http://schemas.microsoft.com/office/drawing/2014/main" val="1982225599"/>
                  </a:ext>
                </a:extLst>
              </a:tr>
              <a:tr h="0">
                <a:tc>
                  <a:txBody>
                    <a:bodyPr/>
                    <a:lstStyle/>
                    <a:p>
                      <a:pPr>
                        <a:buNone/>
                      </a:pPr>
                      <a:r>
                        <a:rPr lang="en-IN"/>
                        <a:t>Claim Analysis</a:t>
                      </a:r>
                    </a:p>
                  </a:txBody>
                  <a:tcPr anchor="ctr"/>
                </a:tc>
                <a:tc>
                  <a:txBody>
                    <a:bodyPr/>
                    <a:lstStyle/>
                    <a:p>
                      <a:pPr>
                        <a:buNone/>
                      </a:pPr>
                      <a:r>
                        <a:rPr lang="en-IN"/>
                        <a:t>Classification / Risk Analysis</a:t>
                      </a:r>
                    </a:p>
                  </a:txBody>
                  <a:tcPr anchor="ctr"/>
                </a:tc>
                <a:tc>
                  <a:txBody>
                    <a:bodyPr/>
                    <a:lstStyle/>
                    <a:p>
                      <a:pPr>
                        <a:buNone/>
                      </a:pPr>
                      <a:r>
                        <a:rPr lang="en-IN"/>
                        <a:t>Scikit-learn</a:t>
                      </a:r>
                    </a:p>
                  </a:txBody>
                  <a:tcPr anchor="ctr"/>
                </a:tc>
                <a:extLst>
                  <a:ext uri="{0D108BD9-81ED-4DB2-BD59-A6C34878D82A}">
                    <a16:rowId xmlns:a16="http://schemas.microsoft.com/office/drawing/2014/main" val="2591826951"/>
                  </a:ext>
                </a:extLst>
              </a:tr>
              <a:tr h="0">
                <a:tc>
                  <a:txBody>
                    <a:bodyPr/>
                    <a:lstStyle/>
                    <a:p>
                      <a:pPr>
                        <a:buNone/>
                      </a:pPr>
                      <a:r>
                        <a:rPr lang="en-IN"/>
                        <a:t>Eligibility Check</a:t>
                      </a:r>
                    </a:p>
                  </a:txBody>
                  <a:tcPr anchor="ctr"/>
                </a:tc>
                <a:tc>
                  <a:txBody>
                    <a:bodyPr/>
                    <a:lstStyle/>
                    <a:p>
                      <a:pPr>
                        <a:buNone/>
                      </a:pPr>
                      <a:r>
                        <a:rPr lang="en-IN"/>
                        <a:t>Rule-Based Analysis</a:t>
                      </a:r>
                    </a:p>
                  </a:txBody>
                  <a:tcPr anchor="ctr"/>
                </a:tc>
                <a:tc>
                  <a:txBody>
                    <a:bodyPr/>
                    <a:lstStyle/>
                    <a:p>
                      <a:pPr>
                        <a:buNone/>
                      </a:pPr>
                      <a:r>
                        <a:rPr lang="en-IN"/>
                        <a:t>Python</a:t>
                      </a:r>
                    </a:p>
                  </a:txBody>
                  <a:tcPr anchor="ctr"/>
                </a:tc>
                <a:extLst>
                  <a:ext uri="{0D108BD9-81ED-4DB2-BD59-A6C34878D82A}">
                    <a16:rowId xmlns:a16="http://schemas.microsoft.com/office/drawing/2014/main" val="3545764538"/>
                  </a:ext>
                </a:extLst>
              </a:tr>
              <a:tr h="0">
                <a:tc>
                  <a:txBody>
                    <a:bodyPr/>
                    <a:lstStyle/>
                    <a:p>
                      <a:pPr>
                        <a:buNone/>
                      </a:pPr>
                      <a:r>
                        <a:rPr lang="en-IN"/>
                        <a:t>Fraud Detection</a:t>
                      </a:r>
                    </a:p>
                  </a:txBody>
                  <a:tcPr anchor="ctr"/>
                </a:tc>
                <a:tc>
                  <a:txBody>
                    <a:bodyPr/>
                    <a:lstStyle/>
                    <a:p>
                      <a:pPr>
                        <a:buNone/>
                      </a:pPr>
                      <a:r>
                        <a:rPr lang="en-IN"/>
                        <a:t>Machine Learning Classification</a:t>
                      </a:r>
                    </a:p>
                  </a:txBody>
                  <a:tcPr anchor="ctr"/>
                </a:tc>
                <a:tc>
                  <a:txBody>
                    <a:bodyPr/>
                    <a:lstStyle/>
                    <a:p>
                      <a:pPr>
                        <a:buNone/>
                      </a:pPr>
                      <a:r>
                        <a:rPr lang="en-IN"/>
                        <a:t>Scikit-learn</a:t>
                      </a:r>
                    </a:p>
                  </a:txBody>
                  <a:tcPr anchor="ctr"/>
                </a:tc>
                <a:extLst>
                  <a:ext uri="{0D108BD9-81ED-4DB2-BD59-A6C34878D82A}">
                    <a16:rowId xmlns:a16="http://schemas.microsoft.com/office/drawing/2014/main" val="3969604943"/>
                  </a:ext>
                </a:extLst>
              </a:tr>
              <a:tr h="0">
                <a:tc>
                  <a:txBody>
                    <a:bodyPr/>
                    <a:lstStyle/>
                    <a:p>
                      <a:pPr>
                        <a:buNone/>
                      </a:pPr>
                      <a:r>
                        <a:rPr lang="en-IN"/>
                        <a:t>Document Processing</a:t>
                      </a:r>
                    </a:p>
                  </a:txBody>
                  <a:tcPr anchor="ctr"/>
                </a:tc>
                <a:tc>
                  <a:txBody>
                    <a:bodyPr/>
                    <a:lstStyle/>
                    <a:p>
                      <a:pPr>
                        <a:buNone/>
                      </a:pPr>
                      <a:r>
                        <a:rPr lang="en-IN"/>
                        <a:t>Text Extraction &amp; Validation</a:t>
                      </a:r>
                    </a:p>
                  </a:txBody>
                  <a:tcPr anchor="ctr"/>
                </a:tc>
                <a:tc>
                  <a:txBody>
                    <a:bodyPr/>
                    <a:lstStyle/>
                    <a:p>
                      <a:pPr>
                        <a:buNone/>
                      </a:pPr>
                      <a:r>
                        <a:rPr lang="en-IN"/>
                        <a:t>PDF/DOCX Processing</a:t>
                      </a:r>
                    </a:p>
                  </a:txBody>
                  <a:tcPr anchor="ctr"/>
                </a:tc>
                <a:extLst>
                  <a:ext uri="{0D108BD9-81ED-4DB2-BD59-A6C34878D82A}">
                    <a16:rowId xmlns:a16="http://schemas.microsoft.com/office/drawing/2014/main" val="3286810847"/>
                  </a:ext>
                </a:extLst>
              </a:tr>
              <a:tr h="0">
                <a:tc>
                  <a:txBody>
                    <a:bodyPr/>
                    <a:lstStyle/>
                    <a:p>
                      <a:pPr>
                        <a:buNone/>
                      </a:pPr>
                      <a:r>
                        <a:rPr lang="en-IN"/>
                        <a:t>Provider Recommendation</a:t>
                      </a:r>
                    </a:p>
                  </a:txBody>
                  <a:tcPr anchor="ctr"/>
                </a:tc>
                <a:tc>
                  <a:txBody>
                    <a:bodyPr/>
                    <a:lstStyle/>
                    <a:p>
                      <a:pPr>
                        <a:buNone/>
                      </a:pPr>
                      <a:r>
                        <a:rPr lang="en-IN"/>
                        <a:t>Location &amp; Specialty Matching</a:t>
                      </a:r>
                    </a:p>
                  </a:txBody>
                  <a:tcPr anchor="ctr"/>
                </a:tc>
                <a:tc>
                  <a:txBody>
                    <a:bodyPr/>
                    <a:lstStyle/>
                    <a:p>
                      <a:pPr>
                        <a:buNone/>
                      </a:pPr>
                      <a:r>
                        <a:rPr lang="en-IN"/>
                        <a:t>Python</a:t>
                      </a:r>
                    </a:p>
                  </a:txBody>
                  <a:tcPr anchor="ctr"/>
                </a:tc>
                <a:extLst>
                  <a:ext uri="{0D108BD9-81ED-4DB2-BD59-A6C34878D82A}">
                    <a16:rowId xmlns:a16="http://schemas.microsoft.com/office/drawing/2014/main" val="2143032858"/>
                  </a:ext>
                </a:extLst>
              </a:tr>
              <a:tr h="0">
                <a:tc>
                  <a:txBody>
                    <a:bodyPr/>
                    <a:lstStyle/>
                    <a:p>
                      <a:pPr>
                        <a:buNone/>
                      </a:pPr>
                      <a:r>
                        <a:rPr lang="en-IN"/>
                        <a:t>AI Assistance</a:t>
                      </a:r>
                    </a:p>
                  </a:txBody>
                  <a:tcPr anchor="ctr"/>
                </a:tc>
                <a:tc>
                  <a:txBody>
                    <a:bodyPr/>
                    <a:lstStyle/>
                    <a:p>
                      <a:pPr>
                        <a:buNone/>
                      </a:pPr>
                      <a:r>
                        <a:rPr lang="en-IN"/>
                        <a:t>RAG</a:t>
                      </a:r>
                    </a:p>
                  </a:txBody>
                  <a:tcPr anchor="ctr"/>
                </a:tc>
                <a:tc>
                  <a:txBody>
                    <a:bodyPr/>
                    <a:lstStyle/>
                    <a:p>
                      <a:pPr>
                        <a:buNone/>
                      </a:pPr>
                      <a:r>
                        <a:rPr lang="en-IN"/>
                        <a:t>Groq API</a:t>
                      </a:r>
                    </a:p>
                  </a:txBody>
                  <a:tcPr anchor="ctr"/>
                </a:tc>
                <a:extLst>
                  <a:ext uri="{0D108BD9-81ED-4DB2-BD59-A6C34878D82A}">
                    <a16:rowId xmlns:a16="http://schemas.microsoft.com/office/drawing/2014/main" val="2762226458"/>
                  </a:ext>
                </a:extLst>
              </a:tr>
              <a:tr h="0">
                <a:tc>
                  <a:txBody>
                    <a:bodyPr/>
                    <a:lstStyle/>
                    <a:p>
                      <a:pPr>
                        <a:buNone/>
                      </a:pPr>
                      <a:r>
                        <a:rPr lang="en-IN"/>
                        <a:t>API Integration</a:t>
                      </a:r>
                    </a:p>
                  </a:txBody>
                  <a:tcPr anchor="ctr"/>
                </a:tc>
                <a:tc>
                  <a:txBody>
                    <a:bodyPr/>
                    <a:lstStyle/>
                    <a:p>
                      <a:pPr>
                        <a:buNone/>
                      </a:pPr>
                      <a:r>
                        <a:rPr lang="en-IN"/>
                        <a:t>REST API</a:t>
                      </a:r>
                    </a:p>
                  </a:txBody>
                  <a:tcPr anchor="ctr"/>
                </a:tc>
                <a:tc>
                  <a:txBody>
                    <a:bodyPr/>
                    <a:lstStyle/>
                    <a:p>
                      <a:pPr>
                        <a:buNone/>
                      </a:pPr>
                      <a:r>
                        <a:rPr lang="en-IN"/>
                        <a:t>FastAPI</a:t>
                      </a:r>
                    </a:p>
                  </a:txBody>
                  <a:tcPr anchor="ctr"/>
                </a:tc>
                <a:extLst>
                  <a:ext uri="{0D108BD9-81ED-4DB2-BD59-A6C34878D82A}">
                    <a16:rowId xmlns:a16="http://schemas.microsoft.com/office/drawing/2014/main" val="824513917"/>
                  </a:ext>
                </a:extLst>
              </a:tr>
              <a:tr h="0">
                <a:tc>
                  <a:txBody>
                    <a:bodyPr/>
                    <a:lstStyle/>
                    <a:p>
                      <a:pPr>
                        <a:buNone/>
                      </a:pPr>
                      <a:r>
                        <a:rPr lang="en-IN"/>
                        <a:t>User Interface</a:t>
                      </a:r>
                    </a:p>
                  </a:txBody>
                  <a:tcPr anchor="ctr"/>
                </a:tc>
                <a:tc>
                  <a:txBody>
                    <a:bodyPr/>
                    <a:lstStyle/>
                    <a:p>
                      <a:pPr>
                        <a:buNone/>
                      </a:pPr>
                      <a:r>
                        <a:rPr lang="en-IN"/>
                        <a:t>Component-Based Web Development</a:t>
                      </a:r>
                    </a:p>
                  </a:txBody>
                  <a:tcPr anchor="ctr"/>
                </a:tc>
                <a:tc>
                  <a:txBody>
                    <a:bodyPr/>
                    <a:lstStyle/>
                    <a:p>
                      <a:pPr>
                        <a:buNone/>
                      </a:pPr>
                      <a:r>
                        <a:rPr lang="en-IN" dirty="0"/>
                        <a:t>React.js</a:t>
                      </a:r>
                    </a:p>
                  </a:txBody>
                  <a:tcPr anchor="ctr"/>
                </a:tc>
                <a:extLst>
                  <a:ext uri="{0D108BD9-81ED-4DB2-BD59-A6C34878D82A}">
                    <a16:rowId xmlns:a16="http://schemas.microsoft.com/office/drawing/2014/main" val="3764079939"/>
                  </a:ext>
                </a:extLst>
              </a:tr>
            </a:tbl>
          </a:graphicData>
        </a:graphic>
      </p:graphicFrame>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9A058-E477-163A-1B3E-61A05B0F38B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A69BAD7-4402-029D-94EE-84728E7A1B97}"/>
              </a:ext>
            </a:extLst>
          </p:cNvPr>
          <p:cNvSpPr>
            <a:spLocks noGrp="1"/>
          </p:cNvSpPr>
          <p:nvPr>
            <p:ph type="body" sz="quarter" idx="13"/>
          </p:nvPr>
        </p:nvSpPr>
        <p:spPr>
          <a:xfrm>
            <a:off x="255996" y="1271219"/>
            <a:ext cx="10624338" cy="4142989"/>
          </a:xfrm>
        </p:spPr>
        <p:txBody>
          <a:bodyPr/>
          <a:lstStyle/>
          <a:p>
            <a:pPr marL="0" indent="0" algn="just">
              <a:buNone/>
            </a:pPr>
            <a:r>
              <a:rPr lang="en-IN" sz="2400" b="0" dirty="0"/>
              <a:t>The project is being developed in a systematic sequence, starting with problem identification, requirement analysis, dataset collection, data preprocessing, and exploratory data analysis. The core claim management functionality has been developed, followed by document verification, policy eligibility checking, and fraud detection. The current development focuses on integrating AI-based claim assistance, hospital and doctor recommendations, and frontend-backend connectivity. The remaining stages include system testing, performance evaluation, final documentation, and deployment.</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E8F67352-6E77-1E87-24B7-ED7906E0679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Project plan/</a:t>
            </a:r>
            <a:r>
              <a:rPr lang="fr-FR" sz="3600" b="1" dirty="0" err="1">
                <a:solidFill>
                  <a:srgbClr val="5B9BD5">
                    <a:lumMod val="50000"/>
                  </a:srgbClr>
                </a:solidFill>
              </a:rPr>
              <a:t>milestones</a:t>
            </a:r>
            <a:r>
              <a:rPr lang="fr-FR" sz="3600" b="1" dirty="0">
                <a:solidFill>
                  <a:srgbClr val="5B9BD5">
                    <a:lumMod val="50000"/>
                  </a:srgbClr>
                </a:solidFill>
              </a:rPr>
              <a:t> </a:t>
            </a:r>
            <a:r>
              <a:rPr lang="fr-FR" sz="3600" b="1" dirty="0" err="1">
                <a:solidFill>
                  <a:srgbClr val="5B9BD5">
                    <a:lumMod val="50000"/>
                  </a:srgbClr>
                </a:solidFill>
              </a:rPr>
              <a:t>progress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64F4198-C244-16A7-B796-A2E4B5EA6A81}"/>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C26B487-77E4-5D5B-7416-E64E3C867A98}"/>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2501109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872131-A6C0-4ECF-9994-EA002B6EAD86}"/>
              </a:ext>
            </a:extLst>
          </p:cNvPr>
          <p:cNvSpPr>
            <a:spLocks noGrp="1"/>
          </p:cNvSpPr>
          <p:nvPr>
            <p:ph type="body" sz="quarter" idx="13"/>
          </p:nvPr>
        </p:nvSpPr>
        <p:spPr>
          <a:xfrm>
            <a:off x="255996" y="1271219"/>
            <a:ext cx="10624338" cy="4142989"/>
          </a:xfrm>
        </p:spPr>
        <p:txBody>
          <a:bodyPr/>
          <a:lstStyle/>
          <a:p>
            <a:pPr marL="0" indent="0">
              <a:buNone/>
            </a:pPr>
            <a:r>
              <a:rPr lang="en-IN" sz="2400" b="0" dirty="0"/>
              <a:t>The proposed system follows an end-to-end pipeline that processes a health insurance claim from submission to final tracking and assistance. The patient first submits claim details and supporting medical documents. The system then performs data preprocessing, document verification, policy eligibility checking, and fraud-risk analysis. Based on the treatment and patient requirements, the system can recommend suitable hospitals and doctors. The AI assistant provides claim-related guidance using the available healthcare and insurance knowledge base.</a:t>
            </a:r>
          </a:p>
          <a:p>
            <a:r>
              <a:rPr lang="en-IN" sz="2400" dirty="0"/>
              <a:t>Pipeline Flow</a:t>
            </a:r>
          </a:p>
          <a:p>
            <a:r>
              <a:rPr lang="en-IN" sz="2400" dirty="0"/>
              <a:t>Claim Submission → Data Preprocessing → Document Verification → Eligibility Check → Fraud Detection → AI Claim Analysis → Hospital &amp; Doctor Recommendation → Claim Decision Support → Claim Tracking → Notification</a:t>
            </a:r>
          </a:p>
          <a:p>
            <a:pPr marL="0" indent="0">
              <a:buNone/>
            </a:pPr>
            <a:endParaRPr lang="en-US" sz="2400" b="0" dirty="0">
              <a:solidFill>
                <a:srgbClr val="5583D1"/>
              </a:solidFill>
            </a:endParaRPr>
          </a:p>
        </p:txBody>
      </p:sp>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Pipeline structure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TotalTime>
  <Words>696</Words>
  <Application>Microsoft Office PowerPoint</Application>
  <PresentationFormat>Widescreen</PresentationFormat>
  <Paragraphs>130</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Sneha shree S</cp:lastModifiedBy>
  <cp:revision>15</cp:revision>
  <dcterms:created xsi:type="dcterms:W3CDTF">2024-05-13T10:33:11Z</dcterms:created>
  <dcterms:modified xsi:type="dcterms:W3CDTF">2026-10-08T03:29:16Z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